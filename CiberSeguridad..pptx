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eague Spartan" charset="1" panose="00000800000000000000"/>
      <p:regular r:id="rId16"/>
    </p:embeddedFont>
    <p:embeddedFont>
      <p:font typeface="Raleway" charset="1" panose="00000000000000000000"/>
      <p:regular r:id="rId17"/>
    </p:embeddedFont>
    <p:embeddedFont>
      <p:font typeface="Raleway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jpeg" Type="http://schemas.openxmlformats.org/officeDocument/2006/relationships/image"/><Relationship Id="rId7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jpe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5.jpe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18.jpeg" Type="http://schemas.openxmlformats.org/officeDocument/2006/relationships/image"/><Relationship Id="rId3" Target="https://www.avast.com/es-es/c-exploits" TargetMode="External" Type="http://schemas.openxmlformats.org/officeDocument/2006/relationships/hyperlink"/><Relationship Id="rId4" Target="../media/image19.jpeg" Type="http://schemas.openxmlformats.org/officeDocument/2006/relationships/image"/><Relationship Id="rId5" Target="../media/image20.jpe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75961" y="3791277"/>
            <a:ext cx="3194581" cy="4114800"/>
          </a:xfrm>
          <a:custGeom>
            <a:avLst/>
            <a:gdLst/>
            <a:ahLst/>
            <a:cxnLst/>
            <a:rect r="r" b="b" t="t" l="l"/>
            <a:pathLst>
              <a:path h="4114800" w="3194581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18561" y="636562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925644">
            <a:off x="-1308266" y="2228127"/>
            <a:ext cx="3194581" cy="4114800"/>
          </a:xfrm>
          <a:custGeom>
            <a:avLst/>
            <a:gdLst/>
            <a:ahLst/>
            <a:cxnLst/>
            <a:rect r="r" b="b" t="t" l="l"/>
            <a:pathLst>
              <a:path h="4114800" w="3194581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83904" y="-16497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23226" y="3834808"/>
            <a:ext cx="12641548" cy="241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7999" spc="559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PROYECTO CIBER SEGURIDAD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1595" y="2141932"/>
            <a:ext cx="552481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20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CBtis-246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29087" y="7106929"/>
            <a:ext cx="12029827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50"/>
              </a:lnSpc>
              <a:spcBef>
                <a:spcPct val="0"/>
              </a:spcBef>
            </a:pPr>
            <a:r>
              <a:rPr lang="en-US" b="true" sz="230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Eduardo Leonel Navarro Avila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6893" y="4512945"/>
            <a:ext cx="5734709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Introducción.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Seguridad y Permisos.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Planteamiento del problema.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Ataques (phishing).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Ataques (pretexto).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Cómo Operan los Atacantes.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Saber tu contraseña.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 u="none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Comprobación de límites.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-682954" y="-1350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06724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79446" y="2579562"/>
            <a:ext cx="4949755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 u="none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Índice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55455" y="0"/>
            <a:ext cx="8332545" cy="10287000"/>
            <a:chOff x="0" y="0"/>
            <a:chExt cx="11110060" cy="1371600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/>
            <a:srcRect l="22966" t="0" r="22966" b="0"/>
            <a:stretch>
              <a:fillRect/>
            </a:stretch>
          </p:blipFill>
          <p:spPr>
            <a:xfrm flipH="false" flipV="false">
              <a:off x="0" y="0"/>
              <a:ext cx="11110060" cy="13716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722631"/>
            <a:ext cx="7578795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En un entorno digital no todos van a querer seguir las reglas y</a:t>
            </a:r>
            <a:r>
              <a:rPr lang="en-US" sz="23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 así como tenemos policías en físico para resolver problemas también los tenemos digitales.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-537897" y="-554514"/>
            <a:ext cx="5228218" cy="5228218"/>
          </a:xfrm>
          <a:custGeom>
            <a:avLst/>
            <a:gdLst/>
            <a:ahLst/>
            <a:cxnLst/>
            <a:rect r="r" b="b" t="t" l="l"/>
            <a:pathLst>
              <a:path h="5228218" w="5228218">
                <a:moveTo>
                  <a:pt x="5228217" y="5228218"/>
                </a:moveTo>
                <a:lnTo>
                  <a:pt x="0" y="5228218"/>
                </a:lnTo>
                <a:lnTo>
                  <a:pt x="0" y="0"/>
                </a:lnTo>
                <a:lnTo>
                  <a:pt x="5228217" y="0"/>
                </a:lnTo>
                <a:lnTo>
                  <a:pt x="5228217" y="522821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564420"/>
            <a:ext cx="698803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 u="none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Introducción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281495" y="6917611"/>
            <a:ext cx="3194581" cy="4114800"/>
          </a:xfrm>
          <a:custGeom>
            <a:avLst/>
            <a:gdLst/>
            <a:ahLst/>
            <a:cxnLst/>
            <a:rect r="r" b="b" t="t" l="l"/>
            <a:pathLst>
              <a:path h="4114800" w="3194581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03304" y="0"/>
            <a:ext cx="8184696" cy="10287000"/>
            <a:chOff x="0" y="0"/>
            <a:chExt cx="10912929" cy="1371600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6"/>
            <a:srcRect l="22812" t="0" r="27062" b="0"/>
            <a:stretch>
              <a:fillRect/>
            </a:stretch>
          </p:blipFill>
          <p:spPr>
            <a:xfrm flipH="false" flipV="false">
              <a:off x="0" y="0"/>
              <a:ext cx="10912929" cy="13716000"/>
            </a:xfrm>
            <a:prstGeom prst="rect">
              <a:avLst/>
            </a:prstGeom>
          </p:spPr>
        </p:pic>
      </p:grpSp>
      <p:sp>
        <p:nvSpPr>
          <p:cNvPr name="TextBox 8" id="8"/>
          <p:cNvSpPr txBox="true"/>
          <p:nvPr/>
        </p:nvSpPr>
        <p:spPr>
          <a:xfrm rot="0">
            <a:off x="1028700" y="6584078"/>
            <a:ext cx="7578795" cy="174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Las computadoras no tienen ética en si, así que no podrán protegerte ni detener a la gente de poca moral de la red, las computadoras pueden usarse para el bien o para el mal.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00459" y="2440483"/>
            <a:ext cx="1408708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Seguridad y Permisos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708336">
            <a:off x="-1674902" y="1806892"/>
            <a:ext cx="3194581" cy="4114800"/>
          </a:xfrm>
          <a:custGeom>
            <a:avLst/>
            <a:gdLst/>
            <a:ahLst/>
            <a:cxnLst/>
            <a:rect r="r" b="b" t="t" l="l"/>
            <a:pathLst>
              <a:path h="4114800" w="3194581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537897" y="-554514"/>
            <a:ext cx="4223721" cy="4223721"/>
          </a:xfrm>
          <a:custGeom>
            <a:avLst/>
            <a:gdLst/>
            <a:ahLst/>
            <a:cxnLst/>
            <a:rect r="r" b="b" t="t" l="l"/>
            <a:pathLst>
              <a:path h="4223721" w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88639" y="6692265"/>
            <a:ext cx="3194581" cy="4114800"/>
          </a:xfrm>
          <a:custGeom>
            <a:avLst/>
            <a:gdLst/>
            <a:ahLst/>
            <a:cxnLst/>
            <a:rect r="r" b="b" t="t" l="l"/>
            <a:pathLst>
              <a:path h="4114800" w="3194581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819027" y="-554514"/>
            <a:ext cx="4205442" cy="4205425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0" t="-25000" r="0" b="-2500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537897" y="6692265"/>
            <a:ext cx="4205442" cy="4205425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l="-25046" t="0" r="-2504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133834" y="4325588"/>
            <a:ext cx="12020332" cy="480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23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LA ciber seguridad evoluciona conforme las computadoras lo hacen y hasta donde la capacidad de estas lo dejen. Pero podemos idear técnicas que nos permitan para proteger la seguridad de las personas en el internet.</a:t>
            </a:r>
          </a:p>
          <a:p>
            <a:pPr algn="ctr" marL="0" indent="0" lvl="0">
              <a:lnSpc>
                <a:spcPts val="3450"/>
              </a:lnSpc>
              <a:spcBef>
                <a:spcPct val="0"/>
              </a:spcBef>
            </a:pPr>
            <a:r>
              <a:rPr lang="en-US" b="true" sz="2300">
                <a:solidFill>
                  <a:srgbClr val="3D5E89"/>
                </a:solidFill>
                <a:latin typeface="Raleway Bold"/>
                <a:ea typeface="Raleway Bold"/>
                <a:cs typeface="Raleway Bold"/>
                <a:sym typeface="Raleway Bold"/>
              </a:rPr>
              <a:t>Secrecity</a:t>
            </a:r>
            <a:r>
              <a:rPr lang="en-US" sz="23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 o </a:t>
            </a:r>
            <a:r>
              <a:rPr lang="en-US" b="true" sz="2300">
                <a:solidFill>
                  <a:srgbClr val="3D5E89"/>
                </a:solidFill>
                <a:latin typeface="Raleway Bold"/>
                <a:ea typeface="Raleway Bold"/>
                <a:cs typeface="Raleway Bold"/>
                <a:sym typeface="Raleway Bold"/>
              </a:rPr>
              <a:t> confidentiality </a:t>
            </a:r>
            <a:r>
              <a:rPr lang="en-US" sz="23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significa que solo las personas autorizadas pueden acceder a esa información, datos del sistema..</a:t>
            </a:r>
          </a:p>
          <a:p>
            <a:pPr algn="ctr" marL="0" indent="0" lvl="0">
              <a:lnSpc>
                <a:spcPts val="3450"/>
              </a:lnSpc>
              <a:spcBef>
                <a:spcPct val="0"/>
              </a:spcBef>
            </a:pPr>
            <a:r>
              <a:rPr lang="en-US" b="true" sz="2300" u="none">
                <a:solidFill>
                  <a:srgbClr val="3D5E89"/>
                </a:solidFill>
                <a:latin typeface="Raleway Bold"/>
                <a:ea typeface="Raleway Bold"/>
                <a:cs typeface="Raleway Bold"/>
                <a:sym typeface="Raleway Bold"/>
              </a:rPr>
              <a:t>Integrity </a:t>
            </a:r>
            <a:r>
              <a:rPr lang="en-US" sz="2300" u="none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significa que solo las personas autorizadas son capaces de modificar o siquiera usar la información, los datos del sistema.</a:t>
            </a:r>
          </a:p>
          <a:p>
            <a:pPr algn="ctr" marL="0" indent="0" lvl="0">
              <a:lnSpc>
                <a:spcPts val="3450"/>
              </a:lnSpc>
              <a:spcBef>
                <a:spcPct val="0"/>
              </a:spcBef>
            </a:pPr>
            <a:r>
              <a:rPr lang="en-US" b="true" sz="2300" u="none">
                <a:solidFill>
                  <a:srgbClr val="3D5E89"/>
                </a:solidFill>
                <a:latin typeface="Raleway Bold"/>
                <a:ea typeface="Raleway Bold"/>
                <a:cs typeface="Raleway Bold"/>
                <a:sym typeface="Raleway Bold"/>
              </a:rPr>
              <a:t>Availability </a:t>
            </a:r>
            <a:r>
              <a:rPr lang="en-US" sz="2300" u="none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significa que esas personas autorizadas siempre tendrán acceso a esa información.</a:t>
            </a:r>
          </a:p>
          <a:p>
            <a:pPr algn="ctr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Esta información podría ser la información de una tarjeta de crédito de alguien, por ejemplo, información que otros podrían robar y usarla para fines no muy buenos.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60668" y="4887179"/>
            <a:ext cx="8275334" cy="410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El tipo de ataque mas común es el phishing, que usualmente llega como correo electrónico. Este método consiste en hacer que el usuario ingrese a una pagina con apariencia legítima para ingresar los datos de su cuenta bancaria y esa información va directamente a otra persona que no es tu banco y que ahora puede usar esa información a su favor.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400" u="none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A pesar de que es poco exitoso existen muchas personas que caen en esto.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063041">
            <a:off x="16412356" y="-977630"/>
            <a:ext cx="3194581" cy="4114800"/>
          </a:xfrm>
          <a:custGeom>
            <a:avLst/>
            <a:gdLst/>
            <a:ahLst/>
            <a:cxnLst/>
            <a:rect r="r" b="b" t="t" l="l"/>
            <a:pathLst>
              <a:path h="4114800" w="3194581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60668" y="1544075"/>
            <a:ext cx="7067359" cy="271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</a:pPr>
            <a:r>
              <a:rPr lang="en-US" b="true" sz="700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Ataques cibernéticos, Phishing.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419100" y="0"/>
            <a:ext cx="8332545" cy="10287000"/>
            <a:chOff x="0" y="0"/>
            <a:chExt cx="11110060" cy="13716000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0" t="8848" r="0" b="8848"/>
            <a:stretch>
              <a:fillRect/>
            </a:stretch>
          </p:blipFill>
          <p:spPr>
            <a:xfrm flipH="false" flipV="false">
              <a:off x="0" y="0"/>
              <a:ext cx="11110060" cy="13716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86852" y="4178561"/>
            <a:ext cx="12714297" cy="437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23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En este tipo de ataques los atacantes, en llamada, se hacen pasar por una empresa que te brinda servicio y te dicen que algo anda mal con su servicio hacia ti.</a:t>
            </a:r>
          </a:p>
          <a:p>
            <a:pPr algn="ctr">
              <a:lnSpc>
                <a:spcPts val="3450"/>
              </a:lnSpc>
            </a:pPr>
            <a:r>
              <a:rPr lang="en-US" sz="23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Mientras fingen ser una empresa, suelen pedir ser transferidos a otro numero para verse mas “profesionales” y para que parezca un numero interno de la empresa. </a:t>
            </a:r>
          </a:p>
          <a:p>
            <a:pPr algn="ctr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Después el atacante da instrucciones al usuario vulnerado para que configure su dispositivo de una manera en la que lo deja vulnerable a el o intentara sacar información comprometedora como sus contraseñas de cuentas.</a:t>
            </a:r>
          </a:p>
          <a:p>
            <a:pPr algn="ctr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 u="none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Incluso con poca información los atacantes pueden engañar a muchas personas, claro, casi ninguna persona cae ante estos engaños pero cuando caen, caen y a los atacantes les funciona.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51854" y="1536362"/>
            <a:ext cx="14084886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Ataques cibernéticos, pretexto.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708336">
            <a:off x="-1674902" y="1806892"/>
            <a:ext cx="3194581" cy="4114800"/>
          </a:xfrm>
          <a:custGeom>
            <a:avLst/>
            <a:gdLst/>
            <a:ahLst/>
            <a:cxnLst/>
            <a:rect r="r" b="b" t="t" l="l"/>
            <a:pathLst>
              <a:path h="4114800" w="3194581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537897" y="-554514"/>
            <a:ext cx="4223721" cy="4223721"/>
          </a:xfrm>
          <a:custGeom>
            <a:avLst/>
            <a:gdLst/>
            <a:ahLst/>
            <a:cxnLst/>
            <a:rect r="r" b="b" t="t" l="l"/>
            <a:pathLst>
              <a:path h="4223721" w="4223721">
                <a:moveTo>
                  <a:pt x="4223721" y="4223722"/>
                </a:moveTo>
                <a:lnTo>
                  <a:pt x="0" y="4223722"/>
                </a:lnTo>
                <a:lnTo>
                  <a:pt x="0" y="0"/>
                </a:lnTo>
                <a:lnTo>
                  <a:pt x="4223721" y="0"/>
                </a:lnTo>
                <a:lnTo>
                  <a:pt x="4223721" y="42237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88639" y="6692265"/>
            <a:ext cx="3194581" cy="4114800"/>
          </a:xfrm>
          <a:custGeom>
            <a:avLst/>
            <a:gdLst/>
            <a:ahLst/>
            <a:cxnLst/>
            <a:rect r="r" b="b" t="t" l="l"/>
            <a:pathLst>
              <a:path h="4114800" w="3194581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708336">
            <a:off x="16041702" y="3526454"/>
            <a:ext cx="5195793" cy="6692474"/>
          </a:xfrm>
          <a:custGeom>
            <a:avLst/>
            <a:gdLst/>
            <a:ahLst/>
            <a:cxnLst/>
            <a:rect r="r" b="b" t="t" l="l"/>
            <a:pathLst>
              <a:path h="6692474" w="5195793">
                <a:moveTo>
                  <a:pt x="5195793" y="0"/>
                </a:moveTo>
                <a:lnTo>
                  <a:pt x="0" y="0"/>
                </a:lnTo>
                <a:lnTo>
                  <a:pt x="0" y="6692473"/>
                </a:lnTo>
                <a:lnTo>
                  <a:pt x="5195793" y="6692473"/>
                </a:lnTo>
                <a:lnTo>
                  <a:pt x="51957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819027" y="-554514"/>
            <a:ext cx="4205442" cy="4205425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/>
              <a:stretch>
                <a:fillRect l="-26335" t="0" r="-2633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83591" y="6823279"/>
            <a:ext cx="4205442" cy="4205425"/>
            <a:chOff x="0" y="0"/>
            <a:chExt cx="6350000" cy="6349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9"/>
              <a:stretch>
                <a:fillRect l="-25046" t="0" r="-25046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3623" y="342817"/>
            <a:ext cx="5908117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Operación de los atacantes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59422" y="1900155"/>
            <a:ext cx="7354741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Modo 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59422" y="2651766"/>
            <a:ext cx="8352502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Buscan información de una empresa y de sus trabajadores para hacerse pasar por ellos y pedirte dinero o un sin fin de cosas mas.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59422" y="4355262"/>
            <a:ext cx="7354741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Modo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59422" y="5106873"/>
            <a:ext cx="8352502" cy="119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Por correo electrónico te mandan troyanos, programas que hacen pasar por archivos inofensivos, como fotos, videos u archivos comprimidos, pero que en realidad son software malicioso.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59422" y="6810369"/>
            <a:ext cx="7354741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Modo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59422" y="7561980"/>
            <a:ext cx="8352502" cy="119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Personas te llaman para pedirte el rescate de una persona, suelen hacer que tu les des la información de un familiar para hacer pasar a la victima como esa persona.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7325645">
            <a:off x="-1148602" y="5296891"/>
            <a:ext cx="5124362" cy="6600466"/>
          </a:xfrm>
          <a:custGeom>
            <a:avLst/>
            <a:gdLst/>
            <a:ahLst/>
            <a:cxnLst/>
            <a:rect r="r" b="b" t="t" l="l"/>
            <a:pathLst>
              <a:path h="6600466" w="5124362">
                <a:moveTo>
                  <a:pt x="0" y="0"/>
                </a:moveTo>
                <a:lnTo>
                  <a:pt x="5124362" y="0"/>
                </a:lnTo>
                <a:lnTo>
                  <a:pt x="5124362" y="6600467"/>
                </a:lnTo>
                <a:lnTo>
                  <a:pt x="0" y="6600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63623" y="4011930"/>
            <a:ext cx="5246391" cy="5246370"/>
            <a:chOff x="0" y="0"/>
            <a:chExt cx="6350000" cy="6349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69402" t="0" r="-69402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true" flipV="true" rot="5400000">
            <a:off x="15147439" y="-1212179"/>
            <a:ext cx="4223721" cy="4223721"/>
          </a:xfrm>
          <a:custGeom>
            <a:avLst/>
            <a:gdLst/>
            <a:ahLst/>
            <a:cxnLst/>
            <a:rect r="r" b="b" t="t" l="l"/>
            <a:pathLst>
              <a:path h="4223721" w="4223721">
                <a:moveTo>
                  <a:pt x="4223722" y="4223721"/>
                </a:moveTo>
                <a:lnTo>
                  <a:pt x="0" y="4223721"/>
                </a:lnTo>
                <a:lnTo>
                  <a:pt x="0" y="0"/>
                </a:lnTo>
                <a:lnTo>
                  <a:pt x="4223722" y="0"/>
                </a:lnTo>
                <a:lnTo>
                  <a:pt x="4223722" y="422372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5959" y="808634"/>
            <a:ext cx="162306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Maneras en la que pueden obtener tu contraseña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69017" y="3370859"/>
            <a:ext cx="3354902" cy="3354888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49812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49656" y="7144766"/>
            <a:ext cx="4393625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Forma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5959" y="7537831"/>
            <a:ext cx="5210053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Los piratas informáticos pueden </a:t>
            </a:r>
            <a:r>
              <a:rPr lang="en-US" sz="2100" u="sng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  <a:hlinkClick r:id="rId3" tooltip="https://www.avast.com/es-es/c-exploits"/>
              </a:rPr>
              <a:t>aprovechar vulnerabilidades del software de una empresa a través de exploits</a:t>
            </a:r>
            <a:r>
              <a:rPr lang="en-US" sz="21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 y otros métodos de piratería para llegar a las contraseñas que contienen.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66549" y="3370859"/>
            <a:ext cx="3354902" cy="3354888"/>
            <a:chOff x="0" y="0"/>
            <a:chExt cx="6350000" cy="6349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0" t="-25047" r="0" b="-2504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947188" y="7144766"/>
            <a:ext cx="4393625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Forma 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064081" y="3370859"/>
            <a:ext cx="3354902" cy="3354888"/>
            <a:chOff x="0" y="0"/>
            <a:chExt cx="6350000" cy="6349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-24906" t="0" r="-24906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544720" y="7144766"/>
            <a:ext cx="4393625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Forma 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0738371">
            <a:off x="-1707698" y="3788574"/>
            <a:ext cx="3415397" cy="4399223"/>
          </a:xfrm>
          <a:custGeom>
            <a:avLst/>
            <a:gdLst/>
            <a:ahLst/>
            <a:cxnLst/>
            <a:rect r="r" b="b" t="t" l="l"/>
            <a:pathLst>
              <a:path h="4399223" w="3415397">
                <a:moveTo>
                  <a:pt x="0" y="0"/>
                </a:moveTo>
                <a:lnTo>
                  <a:pt x="3415396" y="0"/>
                </a:lnTo>
                <a:lnTo>
                  <a:pt x="3415396" y="4399223"/>
                </a:lnTo>
                <a:lnTo>
                  <a:pt x="0" y="43992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-2700000">
            <a:off x="-1890986" y="174207"/>
            <a:ext cx="3383404" cy="3383404"/>
          </a:xfrm>
          <a:custGeom>
            <a:avLst/>
            <a:gdLst/>
            <a:ahLst/>
            <a:cxnLst/>
            <a:rect r="r" b="b" t="t" l="l"/>
            <a:pathLst>
              <a:path h="3383404" w="3383404">
                <a:moveTo>
                  <a:pt x="3383404" y="3383404"/>
                </a:moveTo>
                <a:lnTo>
                  <a:pt x="0" y="3383404"/>
                </a:lnTo>
                <a:lnTo>
                  <a:pt x="0" y="0"/>
                </a:lnTo>
                <a:lnTo>
                  <a:pt x="3383404" y="0"/>
                </a:lnTo>
                <a:lnTo>
                  <a:pt x="3383404" y="338340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8100000">
            <a:off x="16639060" y="2364770"/>
            <a:ext cx="3347979" cy="3347979"/>
          </a:xfrm>
          <a:custGeom>
            <a:avLst/>
            <a:gdLst/>
            <a:ahLst/>
            <a:cxnLst/>
            <a:rect r="r" b="b" t="t" l="l"/>
            <a:pathLst>
              <a:path h="3347979" w="3347979">
                <a:moveTo>
                  <a:pt x="3347979" y="3347979"/>
                </a:moveTo>
                <a:lnTo>
                  <a:pt x="0" y="3347979"/>
                </a:lnTo>
                <a:lnTo>
                  <a:pt x="0" y="0"/>
                </a:lnTo>
                <a:lnTo>
                  <a:pt x="3347979" y="0"/>
                </a:lnTo>
                <a:lnTo>
                  <a:pt x="3347979" y="334797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538973" y="7834630"/>
            <a:ext cx="5210053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Encontrar un error en el sistema para acceder a tu dispositivo para tener capacidades y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36506" y="7834630"/>
            <a:ext cx="5210053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Atacar a un buffer, bloquear el sistema e infiltrarse en el para cambiar valores y modificar arvitrariamente el sistema.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03613" y="2428034"/>
            <a:ext cx="7422454" cy="524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Muchos lenguajes de programación aplican la comprobación automática de limites. Los programas también pueden aleatorizar la ubicación de la memoria de variables, para que los hackers no la conozcan.</a:t>
            </a:r>
          </a:p>
          <a:p>
            <a:pPr algn="l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 u="none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Así es mas probable que el programa se bloqueé a que le den el acceso a alguien más.</a:t>
            </a:r>
          </a:p>
          <a:p>
            <a:pPr algn="l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 u="none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Los programas aparte de esto pueden dejar espacios en blanco en los buffers y vigilar esos valores, para saber si estos cambian, y si si es así, entonces hay  alguien atacando la memoria.</a:t>
            </a:r>
          </a:p>
          <a:p>
            <a:pPr algn="l" marL="0" indent="0" lvl="0">
              <a:lnSpc>
                <a:spcPts val="3450"/>
              </a:lnSpc>
              <a:spcBef>
                <a:spcPct val="0"/>
              </a:spcBef>
            </a:pPr>
            <a:r>
              <a:rPr lang="en-US" sz="2300" u="none">
                <a:solidFill>
                  <a:srgbClr val="3D5E89"/>
                </a:solidFill>
                <a:latin typeface="Raleway"/>
                <a:ea typeface="Raleway"/>
                <a:cs typeface="Raleway"/>
                <a:sym typeface="Raleway"/>
              </a:rPr>
              <a:t>Estas regiones se llaman Canarias.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0" y="8224377"/>
            <a:ext cx="3170840" cy="1001524"/>
            <a:chOff x="0" y="0"/>
            <a:chExt cx="4227787" cy="133536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227787" cy="1335366"/>
              <a:chOff x="0" y="0"/>
              <a:chExt cx="6031179" cy="190497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031179" cy="1904975"/>
              </a:xfrm>
              <a:custGeom>
                <a:avLst/>
                <a:gdLst/>
                <a:ahLst/>
                <a:cxnLst/>
                <a:rect r="r" b="b" t="t" l="l"/>
                <a:pathLst>
                  <a:path h="1904975" w="6031179">
                    <a:moveTo>
                      <a:pt x="6031179" y="952488"/>
                    </a:moveTo>
                    <a:cubicBezTo>
                      <a:pt x="6031179" y="1476478"/>
                      <a:pt x="5602808" y="1904975"/>
                      <a:pt x="5074234" y="1904975"/>
                    </a:cubicBezTo>
                    <a:lnTo>
                      <a:pt x="956945" y="1904975"/>
                    </a:lnTo>
                    <a:cubicBezTo>
                      <a:pt x="428371" y="1904975"/>
                      <a:pt x="0" y="1476478"/>
                      <a:pt x="0" y="952488"/>
                    </a:cubicBezTo>
                    <a:cubicBezTo>
                      <a:pt x="0" y="428371"/>
                      <a:pt x="428371" y="0"/>
                      <a:pt x="956945" y="0"/>
                    </a:cubicBezTo>
                    <a:lnTo>
                      <a:pt x="5074234" y="0"/>
                    </a:lnTo>
                    <a:cubicBezTo>
                      <a:pt x="5602681" y="0"/>
                      <a:pt x="6031179" y="428371"/>
                      <a:pt x="6031179" y="952488"/>
                    </a:cubicBezTo>
                    <a:close/>
                  </a:path>
                </a:pathLst>
              </a:custGeom>
              <a:solidFill>
                <a:srgbClr val="3D5E89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453583" y="409323"/>
              <a:ext cx="3320620" cy="5357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41"/>
                </a:lnSpc>
              </a:pPr>
              <a:r>
                <a:rPr lang="en-US" sz="2764">
                  <a:solidFill>
                    <a:srgbClr val="F6F8F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CBtis-246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758821" y="8229552"/>
            <a:ext cx="3170840" cy="991174"/>
            <a:chOff x="0" y="0"/>
            <a:chExt cx="4227787" cy="132156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227787" cy="1321565"/>
              <a:chOff x="0" y="0"/>
              <a:chExt cx="6031179" cy="188528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031179" cy="1885288"/>
              </a:xfrm>
              <a:custGeom>
                <a:avLst/>
                <a:gdLst/>
                <a:ahLst/>
                <a:cxnLst/>
                <a:rect r="r" b="b" t="t" l="l"/>
                <a:pathLst>
                  <a:path h="1885288" w="6031179">
                    <a:moveTo>
                      <a:pt x="6031179" y="942644"/>
                    </a:moveTo>
                    <a:cubicBezTo>
                      <a:pt x="6031179" y="1456790"/>
                      <a:pt x="5602808" y="1885288"/>
                      <a:pt x="5074234" y="1885288"/>
                    </a:cubicBezTo>
                    <a:lnTo>
                      <a:pt x="956945" y="1885288"/>
                    </a:lnTo>
                    <a:cubicBezTo>
                      <a:pt x="428371" y="1885288"/>
                      <a:pt x="0" y="1456790"/>
                      <a:pt x="0" y="942644"/>
                    </a:cubicBezTo>
                    <a:cubicBezTo>
                      <a:pt x="0" y="428371"/>
                      <a:pt x="428371" y="0"/>
                      <a:pt x="956945" y="0"/>
                    </a:cubicBezTo>
                    <a:lnTo>
                      <a:pt x="5074234" y="0"/>
                    </a:lnTo>
                    <a:cubicBezTo>
                      <a:pt x="5602681" y="0"/>
                      <a:pt x="6031179" y="428371"/>
                      <a:pt x="6031179" y="942644"/>
                    </a:cubicBezTo>
                    <a:close/>
                  </a:path>
                </a:pathLst>
              </a:custGeom>
              <a:solidFill>
                <a:srgbClr val="3D5E89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453583" y="418848"/>
              <a:ext cx="3320620" cy="512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70"/>
                </a:lnSpc>
              </a:pPr>
              <a:r>
                <a:rPr lang="en-US" b="true" sz="2700">
                  <a:solidFill>
                    <a:srgbClr val="F6F8F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ISDSI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0708336">
            <a:off x="-1796822" y="1666931"/>
            <a:ext cx="3194581" cy="4114800"/>
          </a:xfrm>
          <a:custGeom>
            <a:avLst/>
            <a:gdLst/>
            <a:ahLst/>
            <a:cxnLst/>
            <a:rect r="r" b="b" t="t" l="l"/>
            <a:pathLst>
              <a:path h="4114800" w="3194581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-1205081" y="-1223122"/>
            <a:ext cx="4223721" cy="4223721"/>
          </a:xfrm>
          <a:custGeom>
            <a:avLst/>
            <a:gdLst/>
            <a:ahLst/>
            <a:cxnLst/>
            <a:rect r="r" b="b" t="t" l="l"/>
            <a:pathLst>
              <a:path h="4223721" w="4223721">
                <a:moveTo>
                  <a:pt x="4223722" y="4223721"/>
                </a:moveTo>
                <a:lnTo>
                  <a:pt x="0" y="4223721"/>
                </a:lnTo>
                <a:lnTo>
                  <a:pt x="0" y="0"/>
                </a:lnTo>
                <a:lnTo>
                  <a:pt x="4223722" y="0"/>
                </a:lnTo>
                <a:lnTo>
                  <a:pt x="4223722" y="42237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53084" y="1892617"/>
            <a:ext cx="6937690" cy="174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00"/>
              </a:lnSpc>
            </a:pPr>
            <a:r>
              <a:rPr lang="en-US" b="true" sz="6700">
                <a:solidFill>
                  <a:srgbClr val="3D5E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Comprobación de limites.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853084" y="4114800"/>
            <a:ext cx="6209106" cy="5143500"/>
            <a:chOff x="0" y="0"/>
            <a:chExt cx="8278808" cy="6858000"/>
          </a:xfrm>
        </p:grpSpPr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6"/>
            <a:srcRect l="9760" t="0" r="9760" b="0"/>
            <a:stretch>
              <a:fillRect/>
            </a:stretch>
          </p:blipFill>
          <p:spPr>
            <a:xfrm flipH="false" flipV="false">
              <a:off x="0" y="0"/>
              <a:ext cx="8278808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5E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1525" y="3449009"/>
            <a:ext cx="16744950" cy="291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0"/>
              </a:lnSpc>
              <a:spcBef>
                <a:spcPct val="0"/>
              </a:spcBef>
            </a:pPr>
            <a:r>
              <a:rPr lang="en-US" b="true" sz="17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¡Gracias!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49806" y="2079667"/>
            <a:ext cx="1138838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b="true" sz="3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CBtis-246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49806" y="7740707"/>
            <a:ext cx="1138838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Eduardo Leonel Navarro Avila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9925644">
            <a:off x="-1308266" y="2228127"/>
            <a:ext cx="3194581" cy="4114800"/>
          </a:xfrm>
          <a:custGeom>
            <a:avLst/>
            <a:gdLst/>
            <a:ahLst/>
            <a:cxnLst/>
            <a:rect r="r" b="b" t="t" l="l"/>
            <a:pathLst>
              <a:path h="4114800" w="3194581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183904" y="-16497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74355">
            <a:off x="16401685" y="3869731"/>
            <a:ext cx="3194581" cy="4114800"/>
          </a:xfrm>
          <a:custGeom>
            <a:avLst/>
            <a:gdLst/>
            <a:ahLst/>
            <a:cxnLst/>
            <a:rect r="r" b="b" t="t" l="l"/>
            <a:pathLst>
              <a:path h="4114800" w="3194581">
                <a:moveTo>
                  <a:pt x="0" y="0"/>
                </a:moveTo>
                <a:lnTo>
                  <a:pt x="3194581" y="0"/>
                </a:lnTo>
                <a:lnTo>
                  <a:pt x="3194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10800000">
            <a:off x="14357104" y="626283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DAGpnJQ35mw</dc:identifier>
  <dcterms:modified xsi:type="dcterms:W3CDTF">2011-08-01T06:04:30Z</dcterms:modified>
  <cp:revision>1</cp:revision>
  <dc:title>CiberSeguridad.</dc:title>
</cp:coreProperties>
</file>